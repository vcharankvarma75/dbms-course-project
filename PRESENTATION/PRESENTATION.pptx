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1553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 Reservation &amp; Vehicle Return Management System  |  DBMS Project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292608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5029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and Implementation of a Database Management System for Car Rental Reservation and Vehicle Return Management System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DBMS Project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82296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35204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Vaibhav Reddy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Number: 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25WU0104018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35204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Name: 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[Enter faculty name]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 is one of the fastest-growing segments of urban mobility, serving travellers, tourists and businesses every day. Managing reservations, fleet availability, pickups, returns and billing manually does not scale. A well-designed database is the backbone of any modern rental system.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51760" cy="26974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64008" cy="2697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019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58568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cars by branch, category &amp; dates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real-time vehicle availability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modify &amp; cancel reservations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tracking (Pending / Confirmed)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828800"/>
            <a:ext cx="2651760" cy="26974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828800"/>
            <a:ext cx="64008" cy="2697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9019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Vehicle Return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258568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pickup &amp; return time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Odometer and fuel level checks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inspection notes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Late-return fee calculation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828800"/>
            <a:ext cx="2651760" cy="26974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828800"/>
            <a:ext cx="64008" cy="2697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9019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Management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258568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licence records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and branch details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deposits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reporting with SQL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35661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64008" cy="3566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987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Challenges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44168"/>
            <a:ext cx="3703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booking of the same vehicle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registers and paper agreements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customer and rental records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return processing and billing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view of fleet availability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tracking of damage and fuel at return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inconsistency and duplicate records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generate reports &amp; analytics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023360" cy="35661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914400"/>
            <a:ext cx="64008" cy="35661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987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Solution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344168"/>
            <a:ext cx="3703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relational database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overlapping reservations per vehicle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for customers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rental charge &amp; late-fee billing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return check-in and status update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table logs odometer, fuel &amp; damage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enforce data integrity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for utilization &amp; revenue reports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System &amp;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772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640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9875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Purpose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80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database system to manage car rental reservations and vehicle returns end to 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023360" cy="26974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64008" cy="2697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9019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Functionalities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258568"/>
            <a:ext cx="3703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available cars by branch and dates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Reserve, modify &amp; cancel bookings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rental agreement at pickup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vehicle return &amp; inspection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charges, deposit &amp; late fees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customer information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double booking of vehicles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828800"/>
            <a:ext cx="4023360" cy="26974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828800"/>
            <a:ext cx="64008" cy="2697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9019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Role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258568"/>
            <a:ext cx="3703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 storage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data integrity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efficient queries &amp; joins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relationships between entities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concurrent bookings (transactions)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and recovery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Entities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is built around seven major entities covering customers, vehicles, reservations, rentals and returns.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8229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61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5544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Renter details, contact and driving licence number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8229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188720"/>
            <a:ext cx="64008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2618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Vehicle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5544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no., model, category, daily rate and status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4023360" cy="8229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03120"/>
            <a:ext cx="6400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1762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Branch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4688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location with city, state and contact number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103120"/>
            <a:ext cx="4023360" cy="8229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103120"/>
            <a:ext cx="64008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1762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4688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by a customer for a vehicle and date range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4023360" cy="8229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017520"/>
            <a:ext cx="6400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090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Rental Agreement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3832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pickup: time, odometer, fuel level and deposit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017520"/>
            <a:ext cx="4023360" cy="8229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017520"/>
            <a:ext cx="64008" cy="8229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46320" y="30906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Vehicle Return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3832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time, odometer, damage notes and late fee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4023360" cy="8229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931920"/>
            <a:ext cx="6400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40050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429768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transaction, mode and status for a rental</a:t>
            </a:r>
            <a:endParaRPr lang="en-US" sz="11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(Customers / Branch Staff / Admin)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097280" y="914400"/>
            <a:ext cx="6949440" cy="914400"/>
          </a:xfrm>
          <a:prstGeom prst="rect">
            <a:avLst/>
          </a:prstGeom>
          <a:solidFill>
            <a:srgbClr val="1E293B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9144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Layer</a:t>
            </a:r>
            <a:endParaRPr lang="en-US" sz="140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 app: search cars, reserve &amp; cancel, pickup, return check-in, payment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847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▼▲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97280" y="2194560"/>
            <a:ext cx="6949440" cy="914400"/>
          </a:xfrm>
          <a:prstGeom prst="rect">
            <a:avLst/>
          </a:prstGeom>
          <a:solidFill>
            <a:srgbClr val="1E293B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80160" y="21945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Layer</a:t>
            </a:r>
            <a:endParaRPr lang="en-US" sz="140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engine  •  Availability checker  •  Fare calculator  •  Return processor  •  Billing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31272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▼▲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3474720"/>
            <a:ext cx="6949440" cy="914400"/>
          </a:xfrm>
          <a:prstGeom prst="rect">
            <a:avLst/>
          </a:prstGeom>
          <a:solidFill>
            <a:srgbClr val="1E293B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80160" y="34747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Layer (RDBMS)</a:t>
            </a:r>
            <a:endParaRPr lang="en-US" sz="140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• Vehicle • Branch • Reservation • Rental • Return • Payment  |  Constraints, indexes, transactions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Conceptual Design – ER Diagram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645920" cy="640080"/>
          </a:xfrm>
          <a:prstGeom prst="rect">
            <a:avLst/>
          </a:prstGeom>
          <a:solidFill>
            <a:srgbClr val="1D4ED8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0"/>
            <a:ext cx="1645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(PK)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377440" y="960120"/>
            <a:ext cx="914400" cy="548640"/>
          </a:xfrm>
          <a:prstGeom prst="diamond">
            <a:avLst/>
          </a:prstGeom>
          <a:solidFill>
            <a:srgbClr val="7F1D1D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377440" y="960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566160" y="914400"/>
            <a:ext cx="1645920" cy="640080"/>
          </a:xfrm>
          <a:prstGeom prst="rect">
            <a:avLst/>
          </a:prstGeom>
          <a:solidFill>
            <a:srgbClr val="1D4ED8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914400"/>
            <a:ext cx="1645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12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reservation_id (PK), customer_id, vehicle_id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960120"/>
            <a:ext cx="914400" cy="548640"/>
          </a:xfrm>
          <a:prstGeom prst="diamond">
            <a:avLst/>
          </a:prstGeom>
          <a:solidFill>
            <a:srgbClr val="7F1D1D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0" y="960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40880" y="914400"/>
            <a:ext cx="1645920" cy="640080"/>
          </a:xfrm>
          <a:prstGeom prst="rect">
            <a:avLst/>
          </a:prstGeom>
          <a:solidFill>
            <a:srgbClr val="1D4ED8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0" y="914400"/>
            <a:ext cx="1645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2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vehicle_id (PK), branch_id (FK)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03120" y="1234440"/>
            <a:ext cx="27432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234440"/>
            <a:ext cx="27432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2080" y="1234440"/>
            <a:ext cx="45720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1234440"/>
            <a:ext cx="45720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103120" y="10332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310128" y="10332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230368" y="10332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10332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377440"/>
            <a:ext cx="1645920" cy="640080"/>
          </a:xfrm>
          <a:prstGeom prst="rect">
            <a:avLst/>
          </a:prstGeom>
          <a:solidFill>
            <a:srgbClr val="1D4ED8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2377440"/>
            <a:ext cx="1645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payment_id (PK), rental_id (FK)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377440" y="2423160"/>
            <a:ext cx="914400" cy="548640"/>
          </a:xfrm>
          <a:prstGeom prst="diamond">
            <a:avLst/>
          </a:prstGeom>
          <a:solidFill>
            <a:srgbClr val="7F1D1D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377440" y="24231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paid_by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566160" y="2377440"/>
            <a:ext cx="1645920" cy="640080"/>
          </a:xfrm>
          <a:prstGeom prst="rect">
            <a:avLst/>
          </a:prstGeom>
          <a:solidFill>
            <a:srgbClr val="1D4ED8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66160" y="2377440"/>
            <a:ext cx="1645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</a:t>
            </a:r>
            <a:endParaRPr lang="en-US" sz="12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rental_id (PK), reservation_id (FK)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040880" y="2377440"/>
            <a:ext cx="1645920" cy="640080"/>
          </a:xfrm>
          <a:prstGeom prst="rect">
            <a:avLst/>
          </a:prstGeom>
          <a:solidFill>
            <a:srgbClr val="1D4ED8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40880" y="2377440"/>
            <a:ext cx="1645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2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branch_id (PK)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103120" y="2697480"/>
            <a:ext cx="27432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91840" y="2697480"/>
            <a:ext cx="27432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103120" y="249631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3310128" y="249631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023360" y="1691640"/>
            <a:ext cx="914400" cy="548640"/>
          </a:xfrm>
          <a:prstGeom prst="diamond">
            <a:avLst/>
          </a:prstGeom>
          <a:solidFill>
            <a:srgbClr val="7F1D1D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023360" y="1691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389120" y="1554480"/>
            <a:ext cx="0" cy="13716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0" y="2240280"/>
            <a:ext cx="0" cy="13716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434840" y="157276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4434840" y="21762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406640" y="1691640"/>
            <a:ext cx="914400" cy="548640"/>
          </a:xfrm>
          <a:prstGeom prst="diamond">
            <a:avLst/>
          </a:prstGeom>
          <a:solidFill>
            <a:srgbClr val="7F1D1D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06640" y="1691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at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863840" y="1554480"/>
            <a:ext cx="0" cy="13716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63840" y="2240280"/>
            <a:ext cx="0" cy="13716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909560" y="157276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7909560" y="21762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566160" y="3840480"/>
            <a:ext cx="1645920" cy="640080"/>
          </a:xfrm>
          <a:prstGeom prst="rect">
            <a:avLst/>
          </a:prstGeom>
          <a:solidFill>
            <a:srgbClr val="1D4ED8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566160" y="3840480"/>
            <a:ext cx="1645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RETURN</a:t>
            </a:r>
            <a:endParaRPr lang="en-US" sz="12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return_id (PK), rental_id (FK)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931920" y="3154680"/>
            <a:ext cx="914400" cy="548640"/>
          </a:xfrm>
          <a:prstGeom prst="diamond">
            <a:avLst/>
          </a:prstGeom>
          <a:solidFill>
            <a:srgbClr val="7F1D1D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931920" y="3154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with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389120" y="3017520"/>
            <a:ext cx="0" cy="13716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89120" y="3703320"/>
            <a:ext cx="0" cy="13716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434840" y="303580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4434840" y="363931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669280" y="3886200"/>
            <a:ext cx="914400" cy="548640"/>
          </a:xfrm>
          <a:prstGeom prst="diamond">
            <a:avLst/>
          </a:prstGeom>
          <a:solidFill>
            <a:srgbClr val="7F1D1D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669280" y="3886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at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212080" y="4160520"/>
            <a:ext cx="45720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583680" y="4160520"/>
            <a:ext cx="128016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863840" y="3017520"/>
            <a:ext cx="0" cy="114300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230368" y="39593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6629400" y="39593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6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Relational Database Design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24128"/>
          <a:ext cx="3931920" cy="147218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VARCHAR(60)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license_no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VARCHAR(40)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754880" y="777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0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24128"/>
          <a:ext cx="3931920" cy="1682496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reg_no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make_model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VARCHAR(40)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daily_rate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DECIMAL(8,2)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3017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64408"/>
          <a:ext cx="3931920" cy="105156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branch_name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VARCHAR(60)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VARCHAR(40)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VARCHAR(40)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4"/>
          <p:cNvSpPr txBox="1"/>
          <p:nvPr/>
        </p:nvSpPr>
        <p:spPr>
          <a:xfrm>
            <a:off x="4754880" y="3017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000" dirty="0"/>
          </a:p>
        </p:txBody>
      </p:sp>
      <p:graphicFrame>
        <p:nvGraphicFramePr>
          <p:cNvPr id="3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264408"/>
          <a:ext cx="3931920" cy="1261872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DECIMAL(8,2)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Relational Database Design (contd.)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24128"/>
          <a:ext cx="2651760" cy="1682496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pickup_branch_id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end_date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246120" y="777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</a:t>
            </a:r>
            <a:endParaRPr lang="en-US" sz="10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6120" y="1024128"/>
          <a:ext cx="2651760" cy="147218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pickup_datetime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odometer_out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fuel_out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DECIMAL(8,2)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035040" y="777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RETURN</a:t>
            </a:r>
            <a:endParaRPr lang="en-US" sz="1000" dirty="0"/>
          </a:p>
        </p:txBody>
      </p:sp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024128"/>
          <a:ext cx="2651760" cy="1682496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return_branch_id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return_datetime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odometer_in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damage_notes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late_fee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DECIMAL(8,2)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457200" y="3246120"/>
            <a:ext cx="8229600" cy="9144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4" name="Text 5"/>
          <p:cNvSpPr txBox="1"/>
          <p:nvPr/>
        </p:nvSpPr>
        <p:spPr>
          <a:xfrm>
            <a:off x="640080" y="32461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(end_date &gt;= start_date) and a no-overlap rule on (vehicle_id, start_date, end_date) prevent two active reservations for the same car on the same dates.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Relationships &amp; Data Integrity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3258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68680"/>
            <a:ext cx="64008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94183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 Key Relationships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261872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CUSTOMER.customer_id → RESERVATION.customer_id    |    VEHICLE.vehicle_id → RESERVATION.vehicle_id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BRANCH.branch_id → VEHICLE.branch_id / RESERVATION.pickup_branch_id / RETURN.return_branch_id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RESERVATION.reservation_id → RENTAL.reservation_id    |    RENTAL.rental_id → RETURN.rental_id / PAYMENT.rental_id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4023360" cy="22402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331720"/>
            <a:ext cx="64008" cy="2240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404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Integrity Constraints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61488"/>
            <a:ext cx="3703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key: unique id for every entity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Referential: foreign keys ensure valid references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Unique: reg_no, licence no., phone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CHECK (daily_rate &gt; 0), dates valid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 on mandatory fields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331720"/>
            <a:ext cx="4023360" cy="22402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331720"/>
            <a:ext cx="64008" cy="22402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404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Normalization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761488"/>
            <a:ext cx="3703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to 3NF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data stored once, reused everywhere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redundancy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update/insert/delete anomalies</a:t>
            </a:r>
            <a:endParaRPr lang="en-US" sz="120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consistency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Filled-In RDBMS Tables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24128"/>
          <a:ext cx="8229600" cy="84124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licence_no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 Verma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9876543210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TS0920210045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Ananya Roy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Bengaluru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9123456780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KA0120190872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Karthik Nair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9988776655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TS0720180331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2084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0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8229600" cy="84124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reg_no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make_model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daily_rate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TS09EA4521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Hyundai Creta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KA01MJ7788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Maruti Swift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Hatchback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TS07FK1190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Toyota Innova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34107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57600"/>
          <a:ext cx="8229600" cy="630936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branch_name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 Airport Hub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Telangana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Koramangala Branch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Bengaluru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Karnataka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Filled-In RDBMS Tables (contd.)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24128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pickup_branch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end_date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r701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r702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18562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</a:t>
            </a:r>
            <a:endParaRPr lang="en-US" sz="10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pickup_datetime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odometer_out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fuel_out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rt901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r701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2026-10-18 10:00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28163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RETURN</a:t>
            </a:r>
            <a:endParaRPr lang="en-US" sz="1000" dirty="0"/>
          </a:p>
        </p:txBody>
      </p:sp>
      <p:graphicFrame>
        <p:nvGraphicFramePr>
          <p:cNvPr id="3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632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return_datetime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return_branch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odo_in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late_fee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rt901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2026-10-21 12:30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457200" y="3776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000" dirty="0"/>
          </a:p>
        </p:txBody>
      </p:sp>
      <p:graphicFrame>
        <p:nvGraphicFramePr>
          <p:cNvPr id="4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23360"/>
          <a:ext cx="557784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rt901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8000.00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Execution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SQL queries demonstrating how the database supports key operations.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Find available vehicles at a branch for given dates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344168"/>
            <a:ext cx="8229600" cy="868680"/>
          </a:xfrm>
          <a:prstGeom prst="rect">
            <a:avLst/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44168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v.vehicle_id, v.make_model, v.category, v.daily_rate FROM VEHICLE v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v.branch_id='br01' AND v.status='AVAILABLE' AND v.vehicle_id NOT 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(SELECT vehicle_id FROM RESERVATION WHERE status&lt;&gt;'CANCELLED'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AND start_date&lt;='2026-10-21' AND end_date&gt;='2026-10-18');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134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Return summary with late fee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229600" cy="868680"/>
          </a:xfrm>
          <a:prstGeom prst="rect">
            <a:avLst/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56032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rt.return_id, c.name, v.reg_no, rt.return_datetime, rt.late_fee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RETURN_RECORD rt JOIN RENTAL r USING(rental_id)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RESERVATION rs USING(reservation_id) JOIN CUSTOMER c USING(customer_id)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VEHICLE v USING(vehicle_id) WHERE r.rental_id='rt901';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5295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Total revenue per branch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776472"/>
            <a:ext cx="8229600" cy="868680"/>
          </a:xfrm>
          <a:prstGeom prst="rect">
            <a:avLst/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776472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b.branch_name, SUM(p.amount) AS revenue FROM PAYMENT 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RENTAL r USING(rental_id) JOIN RESERVATION rs USING(reservation_id)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BRANCH b ON rs.pickup_branch_id = b.branch_id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p.status='SUCCESS' GROUP BY b.branch_name;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Transactions, Security &amp; Extra Features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35661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64008" cy="35661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987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 Management (ACID)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44168"/>
            <a:ext cx="3703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+ vehicle block + deposit run as one transaction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if payment fails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Locking prevents two users reserving the same car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updates rental, vehicle status &amp; final bill atomically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set vehicle to AVAILABLE after return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add late fee when return is past end date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023360" cy="35661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914400"/>
            <a:ext cx="64008" cy="35661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987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Future Scope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344168"/>
            <a:ext cx="3703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access: customer, branch staff, admin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payment &amp; licence data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backups and recovery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on vehicle, branch and date for fast search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mobile app, dynamic pricing, GPS tracking, maintenance alerts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16916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987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44168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database design for car rental reservation and vehicle return management, addressing key operational challenges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023360" cy="16916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914400"/>
            <a:ext cx="64008" cy="1691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987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Achievements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344168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seven core entities</a:t>
            </a:r>
            <a:endParaRPr lang="en-US" sz="12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ER diagram and 3NF schema</a:t>
            </a:r>
            <a:endParaRPr lang="en-US" sz="12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integrity with constraints</a:t>
            </a:r>
            <a:endParaRPr lang="en-US" sz="12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Prevented vehicle double-booking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4023360" cy="16916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788920"/>
            <a:ext cx="64008" cy="1691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8620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Benefits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218688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 storage</a:t>
            </a:r>
            <a:endParaRPr lang="en-US" sz="12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queries &amp; reporting</a:t>
            </a:r>
            <a:endParaRPr lang="en-US" sz="12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 enforcement</a:t>
            </a:r>
            <a:endParaRPr lang="en-US" sz="12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for future enhancements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788920"/>
            <a:ext cx="4023360" cy="16916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788920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8620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218688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SQL implementation (DDL/DML)</a:t>
            </a:r>
            <a:endParaRPr lang="en-US" sz="12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development</a:t>
            </a:r>
            <a:endParaRPr lang="en-US" sz="12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optimization &amp; indexing</a:t>
            </a:r>
            <a:endParaRPr lang="en-US" sz="12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and maintenance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1027</TotalTime>
  <Words>1758</Words>
  <Application>Microsoft Office PowerPoint</Application>
  <PresentationFormat>On-screen Show (16:9)</PresentationFormat>
  <Paragraphs>477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Rental Reservation &amp; Vehicle Return Management System</dc:title>
  <dc:subject>PptxGenJS Presentation</dc:subject>
  <dc:creator>PptxGenJS</dc:creator>
  <cp:lastModifiedBy>Charan Varma</cp:lastModifiedBy>
  <cp:revision>1</cp:revision>
  <dcterms:created xsi:type="dcterms:W3CDTF">2026-10-12T09:22:42Z</dcterms:created>
  <dcterms:modified xsi:type="dcterms:W3CDTF">2026-10-13T04:40:21Z</dcterms:modified>
</cp:coreProperties>
</file>